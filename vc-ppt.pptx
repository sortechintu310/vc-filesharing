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DA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249708-C8C1-4516-9C22-D94CACF1E5B6}" v="75" dt="2026-05-04T11:11:10.579"/>
  </p1510:revLst>
</p1510:revInfo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A0F9A-85A8-4122-56CE-4392255CF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F8A58-7000-975F-E8CF-F38B559A6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F73F7-6856-111E-0387-1B32F1D18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4FE4-4AFA-4FB7-A4F5-5C88F5D629B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9995E-05CE-6358-57E3-E8376E1D0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A9C78-87A7-DF64-E1CA-696412C2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516D-D390-4B23-A617-74E04E433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377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21FC5-4CEA-573E-5EA9-BFF4B473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798E1-60AF-9366-36D0-4CE8197F4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6317E-8B63-1B4E-63EF-0FC0A6437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4FE4-4AFA-4FB7-A4F5-5C88F5D629B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C732B-F766-A68D-50A6-6C4B5B626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B43C4-9518-6331-356A-4873CC9E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516D-D390-4B23-A617-74E04E433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85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FABC-EE71-43F5-7FBE-D4DC9D3BD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CCA42-0F2E-7464-3C5C-C733EF705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EAA50-B11A-C6E7-4570-EE589333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4FE4-4AFA-4FB7-A4F5-5C88F5D629B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E64FE-C894-C000-CEC9-7350C00BE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56BD3-6841-0E01-2F0D-063641CF2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516D-D390-4B23-A617-74E04E433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98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70EF-30A0-759E-BE59-6B6C05ED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8AC85-6FF4-97FE-7B15-F2030DA7E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6FB9B-94D9-065B-1878-D8FF6758F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24174-8A4D-9AAE-87FE-A6F28A060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4FE4-4AFA-4FB7-A4F5-5C88F5D629B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BA9C2-31F5-546F-3FC2-D981ABE94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7844E-206C-1233-787C-8E5F003D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516D-D390-4B23-A617-74E04E433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49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88356-FAF6-53BF-8F69-167FFE6B8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CB40A-25CE-74B5-68BD-EE55C6532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2A7BC-49B3-1D4A-A8D7-D793D7D40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3F865-645D-5F2C-18FF-CF6999DF2C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B126F2-11D5-75C6-8B10-2CA1ECE366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68BB2-C9E8-A78F-7302-14868DEA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4FE4-4AFA-4FB7-A4F5-5C88F5D629B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B50902-0CBE-2558-4391-8866DE76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C4B7D3-C864-1D8A-A52D-70CFE362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516D-D390-4B23-A617-74E04E433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089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D6C69-8CC4-BE42-2B3E-7445A79B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0027D-AB20-32BA-B979-27F8BC06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4FE4-4AFA-4FB7-A4F5-5C88F5D629B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12A88-0965-7AB9-FE3D-732C96DE8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DF3A7D-CFF1-7F2B-8DC1-CFBD84F6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516D-D390-4B23-A617-74E04E433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408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4ED1B-7565-DC37-6CD4-EB97C229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4FE4-4AFA-4FB7-A4F5-5C88F5D629B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FDF12D-4446-732F-5F05-5490F29A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A30D1-A301-39C3-E16B-99DC8C69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516D-D390-4B23-A617-74E04E433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7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1C59-765E-4A2E-DCE0-9F153D850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34DE9-4F55-8917-C201-2840ACC15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93BE2-C60D-9A43-F7EC-A25F76F3C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1E7BF-24BC-0C9B-E082-DE71ADA1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4FE4-4AFA-4FB7-A4F5-5C88F5D629B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34AEB-F426-D4E9-8F99-FDFB15A3C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8AB55-CFC9-E07E-1A96-87748914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516D-D390-4B23-A617-74E04E433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621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74656-594C-559E-6E6D-BF3C0891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148DEF-49C5-28F6-98A6-1D2B2A5A24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C8718-49AA-B19E-0D4D-F27205943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C9E43-1250-4471-970A-8AB2496F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4FE4-4AFA-4FB7-A4F5-5C88F5D629B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6B2DE-E9E3-8C26-31E9-1761C168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1774D-1731-E992-93A7-2A9AE8E0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516D-D390-4B23-A617-74E04E433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774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9A63-8860-1173-7088-FCBED1215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DA72C-4923-A94F-3EFF-4FF5F4DCF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5BE74-8B45-6B1F-3F10-D95780240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4FE4-4AFA-4FB7-A4F5-5C88F5D629B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AA664-FCB8-2E95-EF2A-0A1BECF49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A994-420A-751D-E473-77E177FBD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516D-D390-4B23-A617-74E04E433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421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1FDCE1-94EA-4ADA-6061-AEDD11417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0FF31-9614-776B-23BE-D5097F206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F5778-687A-A0C1-891E-C3D6312B2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4FE4-4AFA-4FB7-A4F5-5C88F5D629B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3C602-9962-DDA6-8F05-311237B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B47DD-FA4D-08AE-3024-2C41FAD7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516D-D390-4B23-A617-74E04E433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387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654300-EA6C-7D52-A13F-7BB146C55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2B0D1-F867-3B8B-7A8F-763B1D77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AB63B-04F8-7490-F4E6-4C2B36296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44FE4-4AFA-4FB7-A4F5-5C88F5D629BE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6A552-42AC-3760-920A-B5A0AB14F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0581D-910C-8B0E-D4D5-1EEF6559E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B516D-D390-4B23-A617-74E04E433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87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ipfs.tech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3EAED88-0DA7-AE4C-016D-A43FF7FC61C2}"/>
              </a:ext>
            </a:extLst>
          </p:cNvPr>
          <p:cNvGrpSpPr/>
          <p:nvPr/>
        </p:nvGrpSpPr>
        <p:grpSpPr>
          <a:xfrm>
            <a:off x="7089301" y="165497"/>
            <a:ext cx="4804567" cy="1508760"/>
            <a:chOff x="7089301" y="13097"/>
            <a:chExt cx="4804567" cy="150876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902979F-2A20-8264-571B-17C67890697A}"/>
                </a:ext>
              </a:extLst>
            </p:cNvPr>
            <p:cNvSpPr txBox="1"/>
            <p:nvPr/>
          </p:nvSpPr>
          <p:spPr>
            <a:xfrm>
              <a:off x="7089301" y="167640"/>
              <a:ext cx="368537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0">
                <a:spcBef>
                  <a:spcPts val="1200"/>
                </a:spcBef>
                <a:spcAft>
                  <a:spcPts val="1200"/>
                </a:spcAft>
              </a:pPr>
              <a:r>
                <a:rPr lang="en-IN" sz="1800" b="1" i="0" u="none" strike="noStrike" dirty="0">
                  <a:solidFill>
                    <a:srgbClr val="000000"/>
                  </a:solidFill>
                  <a:effectLst/>
                  <a:latin typeface="Raleway" panose="020F0502020204030204" pitchFamily="2" charset="0"/>
                </a:rPr>
                <a:t>J D COLLEGE OF ENGINEERING &amp; MANAGEMENT, NAGPUR</a:t>
              </a:r>
              <a:endParaRPr lang="en-IN" b="0" dirty="0">
                <a:effectLst/>
              </a:endParaRPr>
            </a:p>
            <a:p>
              <a:br>
                <a:rPr lang="en-IN" dirty="0"/>
              </a:br>
              <a:endParaRPr lang="en-IN" dirty="0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99EE94D-E906-08C4-7BD3-1273001790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8494" y="13097"/>
              <a:ext cx="1005374" cy="967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BBEFDBE-AA5F-96DD-47C1-F32E1EC52D9C}"/>
              </a:ext>
            </a:extLst>
          </p:cNvPr>
          <p:cNvSpPr txBox="1"/>
          <p:nvPr/>
        </p:nvSpPr>
        <p:spPr>
          <a:xfrm>
            <a:off x="365865" y="1259175"/>
            <a:ext cx="751670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Secure File Sharing System Using Visual Cryptography and Blockchain</a:t>
            </a:r>
          </a:p>
          <a:p>
            <a:endParaRPr lang="en-US" sz="3200" b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Name: Chintu M. Sorte</a:t>
            </a:r>
          </a:p>
          <a:p>
            <a:r>
              <a:rPr lang="en-IN" sz="2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Enrolment No.: MC240105CA</a:t>
            </a:r>
          </a:p>
          <a:p>
            <a:r>
              <a:rPr lang="en-IN" sz="2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Project Guide: Prof. Rohan B. Kokate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4D6333-6934-FCC2-FDDB-1B9CF0A399F1}"/>
              </a:ext>
            </a:extLst>
          </p:cNvPr>
          <p:cNvSpPr txBox="1"/>
          <p:nvPr/>
        </p:nvSpPr>
        <p:spPr>
          <a:xfrm>
            <a:off x="441960" y="6065520"/>
            <a:ext cx="11079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Date of Presentation : 05/05/26						Department Name: MCA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65A7E-8369-5065-B565-CC508DF97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110" y="2001520"/>
            <a:ext cx="58293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48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5C4E75D-655C-26B7-8A55-73EEE2482538}"/>
              </a:ext>
            </a:extLst>
          </p:cNvPr>
          <p:cNvGrpSpPr/>
          <p:nvPr/>
        </p:nvGrpSpPr>
        <p:grpSpPr>
          <a:xfrm>
            <a:off x="7267101" y="106231"/>
            <a:ext cx="4804567" cy="1508760"/>
            <a:chOff x="7089301" y="13097"/>
            <a:chExt cx="4804567" cy="15087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F62B7E6-7B68-DCB5-F37C-A68F9EAFDFDF}"/>
                </a:ext>
              </a:extLst>
            </p:cNvPr>
            <p:cNvSpPr txBox="1"/>
            <p:nvPr/>
          </p:nvSpPr>
          <p:spPr>
            <a:xfrm>
              <a:off x="7089301" y="167640"/>
              <a:ext cx="368537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0">
                <a:spcBef>
                  <a:spcPts val="1200"/>
                </a:spcBef>
                <a:spcAft>
                  <a:spcPts val="1200"/>
                </a:spcAft>
              </a:pPr>
              <a:r>
                <a:rPr lang="en-IN" sz="1800" b="1" i="0" u="none" strike="noStrike" dirty="0">
                  <a:solidFill>
                    <a:srgbClr val="000000"/>
                  </a:solidFill>
                  <a:effectLst/>
                  <a:latin typeface="Raleway" panose="020F0502020204030204" pitchFamily="2" charset="0"/>
                </a:rPr>
                <a:t>J D COLLEGE OF ENGINEERING &amp; MANAGEMENT, NAGPUR</a:t>
              </a:r>
              <a:endParaRPr lang="en-IN" b="0" dirty="0">
                <a:effectLst/>
              </a:endParaRPr>
            </a:p>
            <a:p>
              <a:br>
                <a:rPr lang="en-IN" dirty="0"/>
              </a:br>
              <a:endParaRPr lang="en-IN" dirty="0"/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0C5EDB98-58DB-943D-932D-5670CDD57F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8494" y="13097"/>
              <a:ext cx="1005374" cy="967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151AA61-12F4-5A01-7615-F52D22CF4B70}"/>
              </a:ext>
            </a:extLst>
          </p:cNvPr>
          <p:cNvSpPr txBox="1"/>
          <p:nvPr/>
        </p:nvSpPr>
        <p:spPr>
          <a:xfrm>
            <a:off x="338667" y="937882"/>
            <a:ext cx="248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INTRODUCTIONc</a:t>
            </a:r>
            <a:endParaRPr lang="en-IN" b="1" u="sng" dirty="0">
              <a:solidFill>
                <a:schemeClr val="tx2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F4C917F-2590-2A9D-3CD3-E5E10C6B925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48733" y="1389245"/>
            <a:ext cx="11446934" cy="526939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Traditional file sharing systems are </a:t>
            </a:r>
            <a:r>
              <a:rPr lang="en-US" dirty="0">
                <a:highlight>
                  <a:srgbClr val="FFFF00"/>
                </a:highlight>
              </a:rPr>
              <a:t>vulnerable to data breaches and unauthorized access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Single-point encryption can be compromised, risking sensitive data.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</a:t>
            </a:r>
            <a:r>
              <a:rPr lang="en-US" dirty="0">
                <a:highlight>
                  <a:srgbClr val="FFFF00"/>
                </a:highlight>
              </a:rPr>
              <a:t>develop a secure file sharing system using </a:t>
            </a:r>
            <a:r>
              <a:rPr lang="en-US" b="1" dirty="0">
                <a:highlight>
                  <a:srgbClr val="FFFF00"/>
                </a:highlight>
              </a:rPr>
              <a:t>Visual Cryptography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ensure data privacy by splitting files into multiple shares.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To use </a:t>
            </a:r>
            <a:r>
              <a:rPr lang="en-US" b="1" dirty="0">
                <a:highlight>
                  <a:srgbClr val="FFFF00"/>
                </a:highlight>
              </a:rPr>
              <a:t>Blockchain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for integrity and access control.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provide a reliable and decentralized solution.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Project 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</a:t>
            </a:r>
            <a:r>
              <a:rPr lang="en-US" dirty="0">
                <a:highlight>
                  <a:srgbClr val="FFFF00"/>
                </a:highlight>
              </a:rPr>
              <a:t>splits a file into encrypted shares using VC.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Shares are stored securely </a:t>
            </a:r>
            <a:r>
              <a:rPr lang="en-US" dirty="0"/>
              <a:t>(IPFS).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Blockchain stores hashes and manages access permissions.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original file is reconstructed only when valid shares are combined. 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082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7E47F-351A-8BBD-990C-D8D54417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3451BC-3AE7-099D-1EA5-CD02400119F2}"/>
              </a:ext>
            </a:extLst>
          </p:cNvPr>
          <p:cNvGrpSpPr/>
          <p:nvPr/>
        </p:nvGrpSpPr>
        <p:grpSpPr>
          <a:xfrm>
            <a:off x="7267101" y="106231"/>
            <a:ext cx="4804567" cy="1508760"/>
            <a:chOff x="7089301" y="13097"/>
            <a:chExt cx="4804567" cy="15087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72593F6-6E67-B683-BAEC-5080CA77A9C1}"/>
                </a:ext>
              </a:extLst>
            </p:cNvPr>
            <p:cNvSpPr txBox="1"/>
            <p:nvPr/>
          </p:nvSpPr>
          <p:spPr>
            <a:xfrm>
              <a:off x="7089301" y="167640"/>
              <a:ext cx="368537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0">
                <a:spcBef>
                  <a:spcPts val="1200"/>
                </a:spcBef>
                <a:spcAft>
                  <a:spcPts val="1200"/>
                </a:spcAft>
              </a:pPr>
              <a:r>
                <a:rPr lang="en-IN" sz="1800" b="1" i="0" u="none" strike="noStrike" dirty="0">
                  <a:solidFill>
                    <a:srgbClr val="000000"/>
                  </a:solidFill>
                  <a:effectLst/>
                  <a:latin typeface="Raleway" panose="020F0502020204030204" pitchFamily="2" charset="0"/>
                </a:rPr>
                <a:t>J D COLLEGE OF ENGINEERING &amp; MANAGEMENT, NAGPUR</a:t>
              </a:r>
              <a:endParaRPr lang="en-IN" b="0" dirty="0">
                <a:effectLst/>
              </a:endParaRPr>
            </a:p>
            <a:p>
              <a:br>
                <a:rPr lang="en-IN" dirty="0"/>
              </a:br>
              <a:endParaRPr lang="en-IN" dirty="0"/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C7EBAAD9-CB61-FA2C-AA58-3554851462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8494" y="13097"/>
              <a:ext cx="1005374" cy="967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BEAB76C-B891-8D53-C34E-2E555C33145B}"/>
              </a:ext>
            </a:extLst>
          </p:cNvPr>
          <p:cNvSpPr txBox="1"/>
          <p:nvPr/>
        </p:nvSpPr>
        <p:spPr>
          <a:xfrm>
            <a:off x="338666" y="937882"/>
            <a:ext cx="298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LITERATURE REVIEW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E7A07B-7B16-87A9-175B-0E4AE2457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123199"/>
              </p:ext>
            </p:extLst>
          </p:nvPr>
        </p:nvGraphicFramePr>
        <p:xfrm>
          <a:off x="423333" y="1535726"/>
          <a:ext cx="10425080" cy="438439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606270">
                  <a:extLst>
                    <a:ext uri="{9D8B030D-6E8A-4147-A177-3AD203B41FA5}">
                      <a16:colId xmlns:a16="http://schemas.microsoft.com/office/drawing/2014/main" val="2577098859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4268566327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3857625062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2318776644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Work</a:t>
                      </a: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What They Did</a:t>
                      </a: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What’s Good</a:t>
                      </a: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What’s Missing (Gap)</a:t>
                      </a: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626602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Moni Naor &amp; Adi Shamir (1994)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Introduced Visual Cryptography to split images into shares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No decryption needed, very secure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Only works well for images, not full files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286103274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Adi Shamir (1979)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Proposed Secret Sharing (SSS) for splitting data mathematically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Strong security model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Needs computation to reconstruct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578404662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IPFS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Decentralized file storage using distributed nodes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No single point of failure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Data availability depends on nodes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847829923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Ethereum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Smart contracts for secure access control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Tamper-proof and transparent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Cost and scalability issues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28152973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Recent Systems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Combine VC + Blockchain + Storage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Better security + decentralization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Complex integration, not optimized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43363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672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91A95-645D-B35E-BBDB-BCE1ABA7C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713EC34-CCF0-6BA2-C048-0C6B5E71C827}"/>
              </a:ext>
            </a:extLst>
          </p:cNvPr>
          <p:cNvGrpSpPr/>
          <p:nvPr/>
        </p:nvGrpSpPr>
        <p:grpSpPr>
          <a:xfrm>
            <a:off x="7267101" y="106231"/>
            <a:ext cx="4804567" cy="1508760"/>
            <a:chOff x="7089301" y="13097"/>
            <a:chExt cx="4804567" cy="15087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948EAFF-F664-940B-0530-250060E5EE46}"/>
                </a:ext>
              </a:extLst>
            </p:cNvPr>
            <p:cNvSpPr txBox="1"/>
            <p:nvPr/>
          </p:nvSpPr>
          <p:spPr>
            <a:xfrm>
              <a:off x="7089301" y="167640"/>
              <a:ext cx="368537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0">
                <a:spcBef>
                  <a:spcPts val="1200"/>
                </a:spcBef>
                <a:spcAft>
                  <a:spcPts val="1200"/>
                </a:spcAft>
              </a:pPr>
              <a:r>
                <a:rPr lang="en-IN" sz="1800" b="1" i="0" u="none" strike="noStrike" dirty="0">
                  <a:solidFill>
                    <a:srgbClr val="000000"/>
                  </a:solidFill>
                  <a:effectLst/>
                  <a:latin typeface="Raleway" panose="020F0502020204030204" pitchFamily="2" charset="0"/>
                </a:rPr>
                <a:t>J D COLLEGE OF ENGINEERING &amp; MANAGEMENT, NAGPUR</a:t>
              </a:r>
              <a:endParaRPr lang="en-IN" b="0" dirty="0">
                <a:effectLst/>
              </a:endParaRPr>
            </a:p>
            <a:p>
              <a:br>
                <a:rPr lang="en-IN" dirty="0"/>
              </a:br>
              <a:endParaRPr lang="en-IN" dirty="0"/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F08A3121-05C1-301B-1D57-250A47B163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8494" y="13097"/>
              <a:ext cx="1005374" cy="967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42842C0-8735-2D77-0FDA-B1008E47EA09}"/>
              </a:ext>
            </a:extLst>
          </p:cNvPr>
          <p:cNvSpPr txBox="1"/>
          <p:nvPr/>
        </p:nvSpPr>
        <p:spPr>
          <a:xfrm>
            <a:off x="338666" y="937882"/>
            <a:ext cx="298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PROPOSED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81238-BD4E-EBD2-D432-E90058501157}"/>
              </a:ext>
            </a:extLst>
          </p:cNvPr>
          <p:cNvSpPr txBox="1"/>
          <p:nvPr/>
        </p:nvSpPr>
        <p:spPr>
          <a:xfrm>
            <a:off x="450266" y="1592938"/>
            <a:ext cx="8949267" cy="42073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system provides </a:t>
            </a:r>
            <a:r>
              <a:rPr lang="en-US" b="1" dirty="0"/>
              <a:t>secure file sharing</a:t>
            </a:r>
            <a:r>
              <a:rPr lang="en-US" dirty="0"/>
              <a:t> using </a:t>
            </a:r>
            <a:r>
              <a:rPr lang="en-US" b="1" dirty="0"/>
              <a:t>Visual Cryptography and Shamir’s Secret Sharing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file is divided into multiple encrypted shares using a </a:t>
            </a:r>
            <a:r>
              <a:rPr lang="en-US" b="1" dirty="0"/>
              <a:t>Python-based VC service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These shares are stored securely and cannot reveal any information individually.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Node.js backend</a:t>
            </a:r>
            <a:r>
              <a:rPr lang="en-US" dirty="0"/>
              <a:t> manages file operations, share handling, and API communication.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PostgreSQL</a:t>
            </a:r>
            <a:r>
              <a:rPr lang="en-US" dirty="0"/>
              <a:t> is used as the database to store metadata, user data, and file references.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Authentication is handled using </a:t>
            </a:r>
            <a:r>
              <a:rPr lang="en-US" b="1" dirty="0"/>
              <a:t>HTTP-only cookies</a:t>
            </a:r>
            <a:r>
              <a:rPr lang="en-US" dirty="0"/>
              <a:t>, ensuring secure session management.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Blockchain (smart contracts)</a:t>
            </a:r>
            <a:r>
              <a:rPr lang="en-US" dirty="0"/>
              <a:t> is used to store hashes and enforce access control.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original file is reconstructed only when authorized shares are combined. </a:t>
            </a:r>
          </a:p>
        </p:txBody>
      </p:sp>
    </p:spTree>
    <p:extLst>
      <p:ext uri="{BB962C8B-B14F-4D97-AF65-F5344CB8AC3E}">
        <p14:creationId xmlns:p14="http://schemas.microsoft.com/office/powerpoint/2010/main" val="2806374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322A0-28D8-BFDE-61F3-908236B6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EF9841-4AE2-A150-E91E-735C5142E9FA}"/>
              </a:ext>
            </a:extLst>
          </p:cNvPr>
          <p:cNvGrpSpPr/>
          <p:nvPr/>
        </p:nvGrpSpPr>
        <p:grpSpPr>
          <a:xfrm>
            <a:off x="7267101" y="106231"/>
            <a:ext cx="4804567" cy="1508760"/>
            <a:chOff x="7089301" y="13097"/>
            <a:chExt cx="4804567" cy="15087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9CD13E7-DD13-7131-A1CD-9C6DAABC13FB}"/>
                </a:ext>
              </a:extLst>
            </p:cNvPr>
            <p:cNvSpPr txBox="1"/>
            <p:nvPr/>
          </p:nvSpPr>
          <p:spPr>
            <a:xfrm>
              <a:off x="7089301" y="167640"/>
              <a:ext cx="368537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0">
                <a:spcBef>
                  <a:spcPts val="1200"/>
                </a:spcBef>
                <a:spcAft>
                  <a:spcPts val="1200"/>
                </a:spcAft>
              </a:pPr>
              <a:r>
                <a:rPr lang="en-IN" sz="1800" b="1" i="0" u="none" strike="noStrike" dirty="0">
                  <a:solidFill>
                    <a:srgbClr val="000000"/>
                  </a:solidFill>
                  <a:effectLst/>
                  <a:latin typeface="Raleway" panose="020F0502020204030204" pitchFamily="2" charset="0"/>
                </a:rPr>
                <a:t>J D COLLEGE OF ENGINEERING &amp; MANAGEMENT, NAGPUR</a:t>
              </a:r>
              <a:endParaRPr lang="en-IN" b="0" dirty="0">
                <a:effectLst/>
              </a:endParaRPr>
            </a:p>
            <a:p>
              <a:br>
                <a:rPr lang="en-IN" dirty="0"/>
              </a:br>
              <a:endParaRPr lang="en-IN" dirty="0"/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C234E348-65FD-C0D5-3AF1-38865D8C7D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8494" y="13097"/>
              <a:ext cx="1005374" cy="967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9CFD3F0-D50E-3568-914E-EA36BD42DC4B}"/>
              </a:ext>
            </a:extLst>
          </p:cNvPr>
          <p:cNvSpPr txBox="1"/>
          <p:nvPr/>
        </p:nvSpPr>
        <p:spPr>
          <a:xfrm>
            <a:off x="584202" y="1470507"/>
            <a:ext cx="6096000" cy="3895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Frontend:</a:t>
            </a:r>
            <a:r>
              <a:rPr lang="en-US" dirty="0"/>
              <a:t> React + TypeScript (Vite + Tailwind CSS)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Backend:</a:t>
            </a:r>
            <a:r>
              <a:rPr lang="en-US" dirty="0"/>
              <a:t> Node.js (Express)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VC Service:</a:t>
            </a:r>
            <a:r>
              <a:rPr lang="en-US" dirty="0"/>
              <a:t> Python (for share splitting &amp; reconstruction)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Database:</a:t>
            </a:r>
            <a:r>
              <a:rPr lang="en-US" dirty="0"/>
              <a:t> PostgreSQL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Authentication:</a:t>
            </a:r>
            <a:r>
              <a:rPr lang="en-US" dirty="0"/>
              <a:t> HTTP-only Cookies (session-based auth)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Blockchain:</a:t>
            </a:r>
            <a:r>
              <a:rPr lang="en-US" dirty="0"/>
              <a:t> Smart Contracts (Polygon / Ethereum)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Storage (optional based on design):</a:t>
            </a:r>
            <a:r>
              <a:rPr lang="en-US" dirty="0"/>
              <a:t> IPFS / Local storage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25B259-3E7A-0D20-E6A4-0CDFB9E57FA7}"/>
              </a:ext>
            </a:extLst>
          </p:cNvPr>
          <p:cNvSpPr txBox="1"/>
          <p:nvPr/>
        </p:nvSpPr>
        <p:spPr>
          <a:xfrm>
            <a:off x="558801" y="937882"/>
            <a:ext cx="298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3746916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DD06D-E9AE-1DAE-2850-3A3900EA0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9AE259-3995-AAC4-6B83-49427B3C01EE}"/>
              </a:ext>
            </a:extLst>
          </p:cNvPr>
          <p:cNvGrpSpPr/>
          <p:nvPr/>
        </p:nvGrpSpPr>
        <p:grpSpPr>
          <a:xfrm>
            <a:off x="7267101" y="106231"/>
            <a:ext cx="4804567" cy="1508760"/>
            <a:chOff x="7089301" y="13097"/>
            <a:chExt cx="4804567" cy="15087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2434D47-83E6-58EE-987A-72AFBD49B372}"/>
                </a:ext>
              </a:extLst>
            </p:cNvPr>
            <p:cNvSpPr txBox="1"/>
            <p:nvPr/>
          </p:nvSpPr>
          <p:spPr>
            <a:xfrm>
              <a:off x="7089301" y="167640"/>
              <a:ext cx="368537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0">
                <a:spcBef>
                  <a:spcPts val="1200"/>
                </a:spcBef>
                <a:spcAft>
                  <a:spcPts val="1200"/>
                </a:spcAft>
              </a:pPr>
              <a:r>
                <a:rPr lang="en-IN" sz="1800" b="1" i="0" u="none" strike="noStrike" dirty="0">
                  <a:solidFill>
                    <a:srgbClr val="000000"/>
                  </a:solidFill>
                  <a:effectLst/>
                  <a:latin typeface="Raleway" panose="020F0502020204030204" pitchFamily="2" charset="0"/>
                </a:rPr>
                <a:t>J D COLLEGE OF ENGINEERING &amp; MANAGEMENT, NAGPUR</a:t>
              </a:r>
              <a:endParaRPr lang="en-IN" b="0" dirty="0">
                <a:effectLst/>
              </a:endParaRPr>
            </a:p>
            <a:p>
              <a:br>
                <a:rPr lang="en-IN" dirty="0"/>
              </a:br>
              <a:endParaRPr lang="en-IN" dirty="0"/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C79D0878-3591-85E2-F15C-81284D35F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8494" y="13097"/>
              <a:ext cx="1005374" cy="967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798B888-08A5-664E-3D7E-60CA76E41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" y="1479524"/>
            <a:ext cx="7620001" cy="508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FCF042-43B7-C2AC-744A-A1754DF8ACCC}"/>
              </a:ext>
            </a:extLst>
          </p:cNvPr>
          <p:cNvSpPr txBox="1"/>
          <p:nvPr/>
        </p:nvSpPr>
        <p:spPr>
          <a:xfrm>
            <a:off x="575735" y="889305"/>
            <a:ext cx="3623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508651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20622-C3D7-1A62-7001-1B29FC12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DEC07BE-5906-3D06-CE2B-F98FE4ABAF56}"/>
              </a:ext>
            </a:extLst>
          </p:cNvPr>
          <p:cNvGrpSpPr/>
          <p:nvPr/>
        </p:nvGrpSpPr>
        <p:grpSpPr>
          <a:xfrm>
            <a:off x="7267101" y="106231"/>
            <a:ext cx="4804567" cy="1508760"/>
            <a:chOff x="7089301" y="13097"/>
            <a:chExt cx="4804567" cy="15087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FA24301-9557-AF5B-0FE8-23004B73DC51}"/>
                </a:ext>
              </a:extLst>
            </p:cNvPr>
            <p:cNvSpPr txBox="1"/>
            <p:nvPr/>
          </p:nvSpPr>
          <p:spPr>
            <a:xfrm>
              <a:off x="7089301" y="167640"/>
              <a:ext cx="368537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0">
                <a:spcBef>
                  <a:spcPts val="1200"/>
                </a:spcBef>
                <a:spcAft>
                  <a:spcPts val="1200"/>
                </a:spcAft>
              </a:pPr>
              <a:r>
                <a:rPr lang="en-IN" sz="1800" b="1" i="0" u="none" strike="noStrike" dirty="0">
                  <a:solidFill>
                    <a:srgbClr val="000000"/>
                  </a:solidFill>
                  <a:effectLst/>
                  <a:latin typeface="Raleway" panose="020F0502020204030204" pitchFamily="2" charset="0"/>
                </a:rPr>
                <a:t>J D COLLEGE OF ENGINEERING &amp; MANAGEMENT, NAGPUR</a:t>
              </a:r>
              <a:endParaRPr lang="en-IN" b="0" dirty="0">
                <a:effectLst/>
              </a:endParaRPr>
            </a:p>
            <a:p>
              <a:br>
                <a:rPr lang="en-IN" dirty="0"/>
              </a:br>
              <a:endParaRPr lang="en-IN" dirty="0"/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7014ECC4-88E7-2F0E-7602-B7D61DFB39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8494" y="13097"/>
              <a:ext cx="1005374" cy="967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2DBB123-4481-1223-DCF5-1FE4E961B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79" y="1310852"/>
            <a:ext cx="5248910" cy="545401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0F6608-8CE0-F71F-FCA8-E6FAB03AB560}"/>
              </a:ext>
            </a:extLst>
          </p:cNvPr>
          <p:cNvSpPr txBox="1"/>
          <p:nvPr/>
        </p:nvSpPr>
        <p:spPr>
          <a:xfrm>
            <a:off x="567268" y="753216"/>
            <a:ext cx="3623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RESULTS &amp; ANALYSIS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8EC7087-7909-486A-28DF-C64DD077C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496" y="1367670"/>
            <a:ext cx="5248911" cy="502701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uploads a file through the frontend interface.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backend sends the file 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VC 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file is split into multiple encrypted shares.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Shares are stored securely and metadata is saved in PostgreSQL.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Blockchain stores hash for integrity verification.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 is securely stored in distributed form (not readable individually). </a:t>
            </a:r>
          </a:p>
        </p:txBody>
      </p:sp>
    </p:spTree>
    <p:extLst>
      <p:ext uri="{BB962C8B-B14F-4D97-AF65-F5344CB8AC3E}">
        <p14:creationId xmlns:p14="http://schemas.microsoft.com/office/powerpoint/2010/main" val="528349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3D1E8-6D63-7970-2417-2CE272AC9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0E93278-CB52-5993-CB6D-B0AB7D1054E8}"/>
              </a:ext>
            </a:extLst>
          </p:cNvPr>
          <p:cNvGrpSpPr/>
          <p:nvPr/>
        </p:nvGrpSpPr>
        <p:grpSpPr>
          <a:xfrm>
            <a:off x="7267101" y="106231"/>
            <a:ext cx="4804567" cy="1508760"/>
            <a:chOff x="7089301" y="13097"/>
            <a:chExt cx="4804567" cy="15087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10B2DD8-1415-2EA0-E0C5-AE20B447AA31}"/>
                </a:ext>
              </a:extLst>
            </p:cNvPr>
            <p:cNvSpPr txBox="1"/>
            <p:nvPr/>
          </p:nvSpPr>
          <p:spPr>
            <a:xfrm>
              <a:off x="7089301" y="167640"/>
              <a:ext cx="368537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0">
                <a:spcBef>
                  <a:spcPts val="1200"/>
                </a:spcBef>
                <a:spcAft>
                  <a:spcPts val="1200"/>
                </a:spcAft>
              </a:pPr>
              <a:r>
                <a:rPr lang="en-IN" sz="1800" b="1" i="0" u="none" strike="noStrike" dirty="0">
                  <a:solidFill>
                    <a:srgbClr val="000000"/>
                  </a:solidFill>
                  <a:effectLst/>
                  <a:latin typeface="Raleway" panose="020F0502020204030204" pitchFamily="2" charset="0"/>
                </a:rPr>
                <a:t>J D COLLEGE OF ENGINEERING &amp; MANAGEMENT, NAGPUR</a:t>
              </a:r>
              <a:endParaRPr lang="en-IN" b="0" dirty="0">
                <a:effectLst/>
              </a:endParaRPr>
            </a:p>
            <a:p>
              <a:br>
                <a:rPr lang="en-IN" dirty="0"/>
              </a:br>
              <a:endParaRPr lang="en-IN" dirty="0"/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7D97FF6-4250-6A65-1F28-7077542430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8494" y="13097"/>
              <a:ext cx="1005374" cy="967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31F8B78-C4C8-154E-CB07-624A1603F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2" y="63897"/>
            <a:ext cx="3985895" cy="67204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A419A6-7532-6B18-0C50-A2ABCABC3E08}"/>
              </a:ext>
            </a:extLst>
          </p:cNvPr>
          <p:cNvSpPr txBox="1"/>
          <p:nvPr/>
        </p:nvSpPr>
        <p:spPr>
          <a:xfrm>
            <a:off x="4994287" y="1413639"/>
            <a:ext cx="4318000" cy="46228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Authorized user requests the file.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Backend fetches required shares from storage.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Shares are sent to the Python VC service.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The original file is reconstructed using valid shares.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Integrity is verified using blockchain hash.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Result:</a:t>
            </a:r>
            <a:r>
              <a:rPr lang="en-US" dirty="0"/>
              <a:t> File is restored accurately only for authorized users. </a:t>
            </a:r>
          </a:p>
        </p:txBody>
      </p:sp>
    </p:spTree>
    <p:extLst>
      <p:ext uri="{BB962C8B-B14F-4D97-AF65-F5344CB8AC3E}">
        <p14:creationId xmlns:p14="http://schemas.microsoft.com/office/powerpoint/2010/main" val="286926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B73BF-3C2C-A351-B78D-CA05EF78C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B45CEA5-5558-7456-7056-D3E16E9163DE}"/>
              </a:ext>
            </a:extLst>
          </p:cNvPr>
          <p:cNvGrpSpPr/>
          <p:nvPr/>
        </p:nvGrpSpPr>
        <p:grpSpPr>
          <a:xfrm>
            <a:off x="7267101" y="106231"/>
            <a:ext cx="4804567" cy="1508760"/>
            <a:chOff x="7089301" y="13097"/>
            <a:chExt cx="4804567" cy="15087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C6C7976-A792-D191-0FF0-F1D2D4442739}"/>
                </a:ext>
              </a:extLst>
            </p:cNvPr>
            <p:cNvSpPr txBox="1"/>
            <p:nvPr/>
          </p:nvSpPr>
          <p:spPr>
            <a:xfrm>
              <a:off x="7089301" y="167640"/>
              <a:ext cx="368537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0">
                <a:spcBef>
                  <a:spcPts val="1200"/>
                </a:spcBef>
                <a:spcAft>
                  <a:spcPts val="1200"/>
                </a:spcAft>
              </a:pPr>
              <a:r>
                <a:rPr lang="en-IN" sz="1800" b="1" i="0" u="none" strike="noStrike" dirty="0">
                  <a:solidFill>
                    <a:srgbClr val="000000"/>
                  </a:solidFill>
                  <a:effectLst/>
                  <a:latin typeface="Raleway" panose="020F0502020204030204" pitchFamily="2" charset="0"/>
                </a:rPr>
                <a:t>J D COLLEGE OF ENGINEERING &amp; MANAGEMENT, NAGPUR</a:t>
              </a:r>
              <a:endParaRPr lang="en-IN" b="0" dirty="0">
                <a:effectLst/>
              </a:endParaRPr>
            </a:p>
            <a:p>
              <a:br>
                <a:rPr lang="en-IN" dirty="0"/>
              </a:br>
              <a:endParaRPr lang="en-IN" dirty="0"/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4749F754-9110-5FCB-B91C-A193F42521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8494" y="13097"/>
              <a:ext cx="1005374" cy="967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A283445-D463-6A26-D918-B8E290031F5E}"/>
              </a:ext>
            </a:extLst>
          </p:cNvPr>
          <p:cNvSpPr txBox="1"/>
          <p:nvPr/>
        </p:nvSpPr>
        <p:spPr>
          <a:xfrm>
            <a:off x="567268" y="753216"/>
            <a:ext cx="3623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PROJECT TIMELINE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339688E-4E78-CB4E-E10C-154C0C578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881925"/>
              </p:ext>
            </p:extLst>
          </p:nvPr>
        </p:nvGraphicFramePr>
        <p:xfrm>
          <a:off x="649233" y="1232411"/>
          <a:ext cx="8398933" cy="4795038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550141">
                  <a:extLst>
                    <a:ext uri="{9D8B030D-6E8A-4147-A177-3AD203B41FA5}">
                      <a16:colId xmlns:a16="http://schemas.microsoft.com/office/drawing/2014/main" val="743902791"/>
                    </a:ext>
                  </a:extLst>
                </a:gridCol>
                <a:gridCol w="4125487">
                  <a:extLst>
                    <a:ext uri="{9D8B030D-6E8A-4147-A177-3AD203B41FA5}">
                      <a16:colId xmlns:a16="http://schemas.microsoft.com/office/drawing/2014/main" val="282444745"/>
                    </a:ext>
                  </a:extLst>
                </a:gridCol>
                <a:gridCol w="1723305">
                  <a:extLst>
                    <a:ext uri="{9D8B030D-6E8A-4147-A177-3AD203B41FA5}">
                      <a16:colId xmlns:a16="http://schemas.microsoft.com/office/drawing/2014/main" val="3928649783"/>
                    </a:ext>
                  </a:extLst>
                </a:gridCol>
              </a:tblGrid>
              <a:tr h="243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Phase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marL="54392" marR="54392" marT="27196" marB="2719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Work Done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marL="54392" marR="54392" marT="27196" marB="2719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marL="54392" marR="54392" marT="27196" marB="2719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405164"/>
                  </a:ext>
                </a:extLst>
              </a:tr>
              <a:tr h="416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Problem Identification</a:t>
                      </a:r>
                      <a:endParaRPr lang="en-IN" sz="11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Defined secure file sharing problem and objectives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Completed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987682310"/>
                  </a:ext>
                </a:extLst>
              </a:tr>
              <a:tr h="416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Literature Review</a:t>
                      </a:r>
                      <a:endParaRPr lang="en-IN" sz="11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Studied Visual Cryptography, Secret Sharing, Blockchain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Completed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4168614877"/>
                  </a:ext>
                </a:extLst>
              </a:tr>
              <a:tr h="595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System Design</a:t>
                      </a:r>
                      <a:endParaRPr lang="en-IN" sz="11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Designed full architecture (Frontend, Backend, VC Service, Blockchain)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Completed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076298492"/>
                  </a:ext>
                </a:extLst>
              </a:tr>
              <a:tr h="416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Backend Development</a:t>
                      </a:r>
                      <a:endParaRPr lang="en-IN" sz="11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Developed APIs, authentication (HTTP-only cookies)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Completed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161808957"/>
                  </a:ext>
                </a:extLst>
              </a:tr>
              <a:tr h="416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VC Service (Python)</a:t>
                      </a:r>
                      <a:endParaRPr lang="en-IN" sz="11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Implemented share splitting and reconstruction logic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Completed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809144351"/>
                  </a:ext>
                </a:extLst>
              </a:tr>
              <a:tr h="416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Database Setup</a:t>
                      </a:r>
                      <a:endParaRPr lang="en-IN" sz="11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Designed schema using PostgreSQL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Completed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069818582"/>
                  </a:ext>
                </a:extLst>
              </a:tr>
              <a:tr h="416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Frontend Development</a:t>
                      </a:r>
                      <a:endParaRPr lang="en-IN" sz="11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Built user interface using React and TypeScript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Completed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950628134"/>
                  </a:ext>
                </a:extLst>
              </a:tr>
              <a:tr h="595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Integration</a:t>
                      </a:r>
                      <a:endParaRPr lang="en-IN" sz="11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Connected all components (Frontend, Backend, VC, Blockchain)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Completed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051538444"/>
                  </a:ext>
                </a:extLst>
              </a:tr>
              <a:tr h="416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Testing</a:t>
                      </a:r>
                      <a:endParaRPr lang="en-IN" sz="11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Performed functional and security testing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Completed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184904242"/>
                  </a:ext>
                </a:extLst>
              </a:tr>
              <a:tr h="416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Deployment</a:t>
                      </a:r>
                      <a:endParaRPr lang="en-IN" sz="11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Deployed system and finalized documentation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Completed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548072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629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34513-F6C4-5568-309F-645CEA55B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B66EA38-958C-8C22-5FA3-F3D5B737D6DA}"/>
              </a:ext>
            </a:extLst>
          </p:cNvPr>
          <p:cNvGrpSpPr/>
          <p:nvPr/>
        </p:nvGrpSpPr>
        <p:grpSpPr>
          <a:xfrm>
            <a:off x="7267101" y="106231"/>
            <a:ext cx="4804567" cy="1508760"/>
            <a:chOff x="7089301" y="13097"/>
            <a:chExt cx="4804567" cy="15087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554E05E-2A61-01B8-F75E-F83393BACC47}"/>
                </a:ext>
              </a:extLst>
            </p:cNvPr>
            <p:cNvSpPr txBox="1"/>
            <p:nvPr/>
          </p:nvSpPr>
          <p:spPr>
            <a:xfrm>
              <a:off x="7089301" y="167640"/>
              <a:ext cx="368537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0">
                <a:spcBef>
                  <a:spcPts val="1200"/>
                </a:spcBef>
                <a:spcAft>
                  <a:spcPts val="1200"/>
                </a:spcAft>
              </a:pPr>
              <a:r>
                <a:rPr lang="en-IN" sz="1800" b="1" i="0" u="none" strike="noStrike" dirty="0">
                  <a:solidFill>
                    <a:srgbClr val="000000"/>
                  </a:solidFill>
                  <a:effectLst/>
                  <a:latin typeface="Raleway" panose="020F0502020204030204" pitchFamily="2" charset="0"/>
                </a:rPr>
                <a:t>J D COLLEGE OF ENGINEERING &amp; MANAGEMENT, NAGPUR</a:t>
              </a:r>
              <a:endParaRPr lang="en-IN" b="0" dirty="0">
                <a:effectLst/>
              </a:endParaRPr>
            </a:p>
            <a:p>
              <a:br>
                <a:rPr lang="en-IN" dirty="0"/>
              </a:br>
              <a:endParaRPr lang="en-IN" dirty="0"/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4F98C417-25AE-0334-4390-186AE35D42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8494" y="13097"/>
              <a:ext cx="1005374" cy="967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8CA0D85-0B3A-15D5-768E-5232595933EA}"/>
              </a:ext>
            </a:extLst>
          </p:cNvPr>
          <p:cNvSpPr txBox="1"/>
          <p:nvPr/>
        </p:nvSpPr>
        <p:spPr>
          <a:xfrm>
            <a:off x="567268" y="753216"/>
            <a:ext cx="1913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64C908-49A6-8CA1-0ACB-50D9F3A8397F}"/>
              </a:ext>
            </a:extLst>
          </p:cNvPr>
          <p:cNvSpPr txBox="1"/>
          <p:nvPr/>
        </p:nvSpPr>
        <p:spPr>
          <a:xfrm>
            <a:off x="567268" y="1295399"/>
            <a:ext cx="1055271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Naor, M., &amp; Shamir, A. (1994). </a:t>
            </a:r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Visual Cryptography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Advances in Cryptology — EUROCRYPT ’94. Springer.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Ateniese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G., Blundo, C., De Santis, A., &amp; Stinson, D. R. (1996). </a:t>
            </a:r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Extended capabilities for visual cryptography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Theoretical Computer Science.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Shamir, A. (1979). </a:t>
            </a:r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 to share a secret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Communications of the ACM.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Blakley, G. R. (1979). </a:t>
            </a:r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Safeguarding cryptographic keys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Proceedings of AFIPS.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Nakamoto, S. (2008). </a:t>
            </a:r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Bitcoin: A Peer-to-Peer Electronic Cash System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Wood, G. (2014). </a:t>
            </a:r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Ethereum: A Secure Decentralised Generalised Transaction Ledger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Buterin, V. (2014). </a:t>
            </a:r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Next-Generation Smart Contract and Decentralized Application Platform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Benet, J. (2014). </a:t>
            </a:r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IPFS - Content Addressed, Versioned, P2P File System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Protocol Labs. (2023). </a:t>
            </a:r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IPFS Documentation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Retrieved from </a:t>
            </a:r>
            <a:r>
              <a:rPr lang="en-IN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https://docs.ipfs.tech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36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8A7B-3E60-15EF-A4CF-B42396E51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E81CA41-B3B4-A25D-079C-120FB8EA0B87}"/>
              </a:ext>
            </a:extLst>
          </p:cNvPr>
          <p:cNvGrpSpPr/>
          <p:nvPr/>
        </p:nvGrpSpPr>
        <p:grpSpPr>
          <a:xfrm>
            <a:off x="7267101" y="106231"/>
            <a:ext cx="4804567" cy="1508760"/>
            <a:chOff x="7089301" y="13097"/>
            <a:chExt cx="4804567" cy="15087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4FCD880-4285-56E3-FC33-08622B517878}"/>
                </a:ext>
              </a:extLst>
            </p:cNvPr>
            <p:cNvSpPr txBox="1"/>
            <p:nvPr/>
          </p:nvSpPr>
          <p:spPr>
            <a:xfrm>
              <a:off x="7089301" y="167640"/>
              <a:ext cx="368537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0">
                <a:spcBef>
                  <a:spcPts val="1200"/>
                </a:spcBef>
                <a:spcAft>
                  <a:spcPts val="1200"/>
                </a:spcAft>
              </a:pPr>
              <a:r>
                <a:rPr lang="en-IN" sz="1800" b="1" i="0" u="none" strike="noStrike" dirty="0">
                  <a:solidFill>
                    <a:srgbClr val="000000"/>
                  </a:solidFill>
                  <a:effectLst/>
                  <a:latin typeface="Raleway" panose="020F0502020204030204" pitchFamily="2" charset="0"/>
                </a:rPr>
                <a:t>J D COLLEGE OF ENGINEERING &amp; MANAGEMENT, NAGPUR</a:t>
              </a:r>
              <a:endParaRPr lang="en-IN" b="0" dirty="0">
                <a:effectLst/>
              </a:endParaRPr>
            </a:p>
            <a:p>
              <a:br>
                <a:rPr lang="en-IN" dirty="0"/>
              </a:br>
              <a:endParaRPr lang="en-IN" dirty="0"/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83E8DEF4-BF60-C911-BF90-26068540CE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8494" y="13097"/>
              <a:ext cx="1005374" cy="967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C318D97-44B8-7C91-C932-38F949933DCC}"/>
              </a:ext>
            </a:extLst>
          </p:cNvPr>
          <p:cNvSpPr txBox="1"/>
          <p:nvPr/>
        </p:nvSpPr>
        <p:spPr>
          <a:xfrm>
            <a:off x="3530600" y="2967335"/>
            <a:ext cx="513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8361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955</Words>
  <Application>Microsoft Office PowerPoint</Application>
  <PresentationFormat>Widescreen</PresentationFormat>
  <Paragraphs>146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Raleway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Chintu Sorte</dc:creator>
  <cp:lastModifiedBy>Chintu Sorte</cp:lastModifiedBy>
  <cp:revision>2</cp:revision>
  <dcterms:created xsi:type="dcterms:W3CDTF">2025-11-19T06:39:28Z</dcterms:created>
  <dcterms:modified xsi:type="dcterms:W3CDTF">2026-05-04T11:14:08Z</dcterms:modified>
</cp:coreProperties>
</file>